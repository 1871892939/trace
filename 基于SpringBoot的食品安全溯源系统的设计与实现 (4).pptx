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80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560" userDrawn="1">
          <p15:clr>
            <a:srgbClr val="747775"/>
          </p15:clr>
        </p15:guide>
        <p15:guide id="2" pos="28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0"/>
        <p:guide pos="2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，同学们，大家好。我是计算机科学与技术辅修2022级的刘勇，我的毕业设计题目是《基于SpringBoot的食品安全溯源系统的设计与实现》。在唐建国副教授的悉心指导下，我完成了本次设计。接下来，我将从研究背景、关键技术、系统设计与实现、总结与展望四个方面进行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五个核心部分展开。首先，我会介绍项目的研究背景与意义，阐述为何要做这个系统。其次，我会综述项目所使用的关键技术。第三部分，将详细介绍系统的需求分析与整体设计。第四部分是本次设计的重点，我会展示系统核心模块的具体实现。最后，对整个项目进行总结并对未来工作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现在我们进入第一部分：研究背景与意义。在这一部分，我将阐述当前食品安全领域面临的挑战，以及本项目旨在解决的核心问题。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，食品安全问题备受关注。大量安全事件的根源在于信息不透明和追溯困难。传统的纸质台账效率低下，而新兴的区块链方案虽然技术先进，但部署和维护成本高昂，难以在中小企业普及。同时，国家政策也明确指出要发展智慧监管。因此，开发一个轻量化、低成本、易于部署的食品安全溯源系统具有重要的现实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，本项目设定了四个核心目标。首先是架构轻量化，采用SpringBoot单体架构，降低部署门槛和成本。其次是数据自动化，通过数据清洗流水线自动处理录入的数据。第三是分析智能化，利用3σ检测和风险评分算法进行智能分析。最后是交互实时化，通过WebSocket技术实现数据的实时推送，让监管大屏能够动态更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接下来，我们进入第二部分，介绍本系统所采用的关键技术。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本系统的技术栈涵盖了前后端、数据存储和实时通信等多个方面。后端采用SpringBoot和MyBatis-Plus，保证了开发效率和部署的简便性。数据存储使用MySQL和Redis，兼顾了数据持久化和缓存性能。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实时通信是本系统的亮点，采用了Spring原生的WebSocket，实现了服务端到客户端的高效推送。前端则使用Vue3全家桶和ECharts，不仅实现了现代化的响应式用户界面，还提供了丰富的数据可视化图表支持。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在安全和调度方面，我们使用JWT进行无状态的身份认证，并结合Spring TaskScheduler实现了灵活的任务调度功能。左侧展示的是我们项目中的核心依赖配置文件，直观地反映了上述技术组件的集成情况。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bSocket是实现系统实时交互的核心。它允许服务器主动向客户端推送数据。在本系统中，后端通过一个线程安全的集合来管理所有在线连接，并提供广播方法。前端则封装了一个客户端，实现了订阅-发布模式和自动重连机制。当批次录入、数据清洗或预警生成时，后端会主动推送更新，实现前端页面的无刷新实时更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第三部分，我将介绍系统的需求分析与整体设计。这部分是连接问题定义和系统实现的桥梁。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系统主要面向监管员和管理员两种角色。监管员负责日常的批次录入、查询和预警处理，而管理员拥有更高权限，可以进行系统配置和用户管理。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我们梳理了三条核心业务流程：批次录入、预警处置和参数动态配置，确保了业务流转的闭环和系统的灵活性。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同时，对系统的非功能需求也提出了明确的量化指标，包括1秒以内的实时性响应、支持100以上的高并发，以及低于500毫秒的消息推送延迟，以保证系统在实际生产环境中的高效稳定运行。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采用经典的分层架构。从上到下依次为前端层、接口层、业务层、持久层和数据存储层。前端层负责用户交互和数据展示。接口层接收HTTP和WebSocket请求，并分发给业务层处理。业务层是系统的核心，包含了所有的业务逻辑和算法。持久层负责与数据库交互，而数据存储层则使用MySQL和Redis来分别存储业务数据和缓存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总体架构下，我们将系统功能划分为七大模块。包括基础的用户认证和批次管理，核心的数据清洗与智能分析，以及面向监管的预警管理和监管大屏。此外，系统还提供了灵活的参数配置和完善的操作日志审计功能，保证了系统的易用性和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系统的基石。我们设计了8张核心数据表，涵盖了用户、批次、检测、物流、预警、风险评估、系统配置和操作日志等所有业务实体。在设计中，我们特别注意了字段类型的选择，例如使用BCrypt加密密码，为关键字段建立唯一索引，并使用JSON格式存储复杂的风险归因信息，以提高系统的性能和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数据库的E-R关系图。从图中可以看出，整个数据库以批次表为核心，通过外键关联了检测数据、物流数据、预警记录和风险评估结果，形成了一个完整的数据闭环，为溯源功能提供了数据基础。用户表与操作日志表的一对多关系，则保证了所有操作都有据可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第四部分，也是本次答辩的重点，我将展示系统核心模块的具体实现。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数据清洗与智能分析是系统的核心模块。我们设计了一条自动化的流水线，从批次录入开始，依次进行数据读取、3σ异常检测、风险评分、结果落库、预警生成，并最终通过WebSocket推送更新。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左侧展示了我们定义的四个核心处理阶段，将复杂的业务逻辑解耦为数据接入、智能分析、持久化存储和实时通知四个独立的步骤，保证了系统的可维护性。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右侧是核心服务类 `DataCleanService` 的代码框架，展示了整个流程的核心实现逻辑。通过这种结构化的编码方式，我们实现了“批次录入即触发分析”的自动化闭环，同时也保留了通过定时任务进行异步处理的灵活性。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详细介绍了两个核心算法。左侧是3σ统计异常检测，它通过计算数据的偏离度来判断是否异常。右侧是加权规则风险评分算法，它综合考虑了检测和物流两个维度，并根据预设的权重计算出一个0到100的风险分数，最终判定风险等级。值得一提的是，所有算法的参数，如σ系数和权重，都可以在系统后台动态配置，无需修改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批次管理模块负责数据的录入和查询。批次录入时，系统会在一个事务中完成所有相关数据的保存，并自动触发分析流程。溯源链查询是系统的核心功能之一，它将一个批次的所有相关信息，包括检测、物流、风险等，以时间线的形式聚合展示，方便监管人员进行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警管理模块帮助监管人员及时发现和处理风险。预警大盘以可视化的方式展示了预警的整体情况，包括处理率、等级分布和趋势等。预警列表则提供了详细的预警记录，并支持筛选和一键处理。通过WebSocket，当新的预警生成时，页面会实时收到通知并更新，确保监管人员不会错过任何风险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监管大屏是系统的数据驾驶舱，它聚合了系统的核心数据指标。页面从上到下分为三个区域：顶部的统计卡片展示关键数字，中部和底部的图表区则通过饼图、柱状图和折线图等形式，直观地展示了风险分布和趋势变化。所有图表数据都由WebSocket实时驱动，实现了真正的实时监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参数配置模块是系统灵活性的关键。我们设计了一个三层架构，结合了MySQL、Redis和发布-订阅模式。当管理员修改参数时，新的配置会立即同步到缓存，并通知所有相关模块。例如，修改定时清洗的间隔，调度器会立即响应；修改风险评分的权重，新的批次就会用新的权重进行计算。这使得系统具备了动态调整的能力，无需重启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毕业设计进行总结与展望。我成功完成了一个基于SpringBoot的食品安全溯源系统，实现了轻量化架构、智能分析、实时交互等核心功能。当然，系统还有许多可以改进的地方。未来，可以接入真实的IoT设备获取数据，引入Redis Pub-Sub支持系统的水平扩展，并进一步深化算法，进行更复杂的数据分析。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在此，我要特别感谢我的指导老师唐建国副教授，感谢他在整个毕业设计过程中给予我的悉心指导。同时，也要感谢学院提供的良好环境和同学们的无私支持。最后，谢谢在座的各位老师和同学的聆听！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我的汇报到此结束，感谢各位老师的聆听，欢迎各位老师提问。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8.svg"/><Relationship Id="rId2" Type="http://schemas.openxmlformats.org/officeDocument/2006/relationships/image" Target="../media/image2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32.png"/><Relationship Id="rId7" Type="http://schemas.openxmlformats.org/officeDocument/2006/relationships/image" Target="../media/image26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6.svg"/><Relationship Id="rId12" Type="http://schemas.openxmlformats.org/officeDocument/2006/relationships/image" Target="../media/image35.png"/><Relationship Id="rId11" Type="http://schemas.openxmlformats.org/officeDocument/2006/relationships/image" Target="../media/image24.svg"/><Relationship Id="rId10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7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svg"/><Relationship Id="rId8" Type="http://schemas.openxmlformats.org/officeDocument/2006/relationships/image" Target="../media/image44.png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9.svg"/><Relationship Id="rId12" Type="http://schemas.openxmlformats.org/officeDocument/2006/relationships/image" Target="../media/image48.png"/><Relationship Id="rId11" Type="http://schemas.openxmlformats.org/officeDocument/2006/relationships/image" Target="../media/image47.svg"/><Relationship Id="rId10" Type="http://schemas.openxmlformats.org/officeDocument/2006/relationships/image" Target="../media/image46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svg"/><Relationship Id="rId8" Type="http://schemas.openxmlformats.org/officeDocument/2006/relationships/image" Target="../media/image55.png"/><Relationship Id="rId7" Type="http://schemas.openxmlformats.org/officeDocument/2006/relationships/image" Target="../media/image43.sv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8.svg"/><Relationship Id="rId10" Type="http://schemas.openxmlformats.org/officeDocument/2006/relationships/image" Target="../media/image57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svg"/><Relationship Id="rId7" Type="http://schemas.openxmlformats.org/officeDocument/2006/relationships/image" Target="../media/image64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69.svg"/><Relationship Id="rId13" Type="http://schemas.openxmlformats.org/officeDocument/2006/relationships/image" Target="../media/image68.png"/><Relationship Id="rId12" Type="http://schemas.openxmlformats.org/officeDocument/2006/relationships/image" Target="../media/image43.svg"/><Relationship Id="rId11" Type="http://schemas.openxmlformats.org/officeDocument/2006/relationships/image" Target="../media/image54.png"/><Relationship Id="rId10" Type="http://schemas.openxmlformats.org/officeDocument/2006/relationships/image" Target="../media/image67.svg"/><Relationship Id="rId1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svg"/><Relationship Id="rId8" Type="http://schemas.openxmlformats.org/officeDocument/2006/relationships/image" Target="../media/image75.png"/><Relationship Id="rId7" Type="http://schemas.openxmlformats.org/officeDocument/2006/relationships/image" Target="../media/image74.svg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3" Type="http://schemas.openxmlformats.org/officeDocument/2006/relationships/image" Target="../media/image36.svg"/><Relationship Id="rId2" Type="http://schemas.openxmlformats.org/officeDocument/2006/relationships/image" Target="../media/image70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5" Type="http://schemas.openxmlformats.org/officeDocument/2006/relationships/image" Target="../media/image79.svg"/><Relationship Id="rId4" Type="http://schemas.openxmlformats.org/officeDocument/2006/relationships/image" Target="../media/image78.png"/><Relationship Id="rId3" Type="http://schemas.openxmlformats.org/officeDocument/2006/relationships/image" Target="../media/image47.svg"/><Relationship Id="rId2" Type="http://schemas.openxmlformats.org/officeDocument/2006/relationships/image" Target="../media/image77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6.svg"/><Relationship Id="rId6" Type="http://schemas.openxmlformats.org/officeDocument/2006/relationships/image" Target="../media/image85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2.png"/><Relationship Id="rId6" Type="http://schemas.openxmlformats.org/officeDocument/2006/relationships/image" Target="../media/image91.png"/><Relationship Id="rId5" Type="http://schemas.openxmlformats.org/officeDocument/2006/relationships/image" Target="../media/image90.svg"/><Relationship Id="rId4" Type="http://schemas.openxmlformats.org/officeDocument/2006/relationships/image" Target="../media/image89.png"/><Relationship Id="rId3" Type="http://schemas.openxmlformats.org/officeDocument/2006/relationships/image" Target="../media/image88.svg"/><Relationship Id="rId2" Type="http://schemas.openxmlformats.org/officeDocument/2006/relationships/image" Target="../media/image87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26.sv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7.png"/><Relationship Id="rId7" Type="http://schemas.openxmlformats.org/officeDocument/2006/relationships/image" Target="../media/image26.svg"/><Relationship Id="rId6" Type="http://schemas.openxmlformats.org/officeDocument/2006/relationships/image" Target="../media/image31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96.svg"/><Relationship Id="rId2" Type="http://schemas.openxmlformats.org/officeDocument/2006/relationships/image" Target="../media/image95.png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8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2.svg"/><Relationship Id="rId4" Type="http://schemas.openxmlformats.org/officeDocument/2006/relationships/image" Target="../media/image101.png"/><Relationship Id="rId3" Type="http://schemas.openxmlformats.org/officeDocument/2006/relationships/image" Target="../media/image100.svg"/><Relationship Id="rId2" Type="http://schemas.openxmlformats.org/officeDocument/2006/relationships/image" Target="../media/image99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8.svg"/><Relationship Id="rId6" Type="http://schemas.openxmlformats.org/officeDocument/2006/relationships/image" Target="../media/image107.png"/><Relationship Id="rId5" Type="http://schemas.openxmlformats.org/officeDocument/2006/relationships/image" Target="../media/image106.svg"/><Relationship Id="rId4" Type="http://schemas.openxmlformats.org/officeDocument/2006/relationships/image" Target="../media/image105.png"/><Relationship Id="rId3" Type="http://schemas.openxmlformats.org/officeDocument/2006/relationships/image" Target="../media/image104.svg"/><Relationship Id="rId2" Type="http://schemas.openxmlformats.org/officeDocument/2006/relationships/image" Target="../media/image103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基于SpringCloud的食品安全溯源系统的设计与实现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28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信息科学与工程学院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2921000"/>
            <a:ext cx="1219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计算机科学与技术 2022 级 02班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810000"/>
            <a:ext cx="7620000" cy="1905000"/>
          </a:xfrm>
          <a:prstGeom prst="roundRect">
            <a:avLst>
              <a:gd name="adj" fmla="val 10666"/>
            </a:avLst>
          </a:prstGeom>
          <a:solidFill>
            <a:srgbClr val="1A5A96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794000" y="4191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学生姓名：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刘勇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794000" y="4953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　　号：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221040100211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61804">
            <a:off x="5524500" y="4756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477000" y="4191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唐建国 (副教授)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953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答辩日期：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04月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/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A5A9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000" y="1968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667000" y="19685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b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与意义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分析当前食品安全现状，剖析传统监管方案痛点，并阐述相关政策驱动因素。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A5A9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1968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350000" y="19685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</a:t>
            </a:r>
            <a:b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综述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794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介绍系统整体技术栈选型，重点对实时通信核心技术 WebSocket 进行详细解析。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A5A9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1968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033000" y="1968500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b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与设计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794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梳理系统功能与非功能性需求，展示总体架构设计、核心功能模块划分及数据库E-R模型。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4318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1A5A9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6000" y="4445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175000" y="444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系统核心功能实现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175000" y="4953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深入解析核心业务模块的代码逻辑与算法流程，并展示系统的实际运行界面与交互效果。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4318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1A5A96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7000" y="4445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636000" y="444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总结与未来展望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636000" y="4953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总结本次项目开发的主要工作成果与创新点，并针对当前系统的不足提出未来的改进方向。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RESEARCH BACKGROUND AND SIGNIFICANCE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0394" r="20394"/>
          <a:stretch>
            <a:fillRect/>
          </a:stretch>
        </p:blipFill>
        <p:spPr>
          <a:xfrm>
            <a:off x="762000" y="1524000"/>
            <a:ext cx="3810000" cy="4826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953000" y="1524000"/>
            <a:ext cx="6223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09600" cy="609600"/>
          </a:xfrm>
          <a:prstGeom prst="ellipse">
            <a:avLst/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1905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969000" y="17145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核心问题：食品安全溯源困境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2159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超68%事件源于源头缺失与数据滞后；问题批次定位平均耗时&gt;48小时，严重制约了应急响应效率与风险识别能力。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53000" y="3238500"/>
            <a:ext cx="6223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207000" y="3492500"/>
            <a:ext cx="609600" cy="6096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3619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969000" y="34290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传统方案局限性与痛点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0" y="3873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纸质台账信息割裂难追溯；区块链方案部署成本高（单节点¥2000+/月）、运维复杂，且与主流Java企业栈存在技术鸿沟。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953000" y="4953000"/>
            <a:ext cx="6223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207000" y="5207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5334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969000" y="51435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国家政策强力驱动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969000" y="5588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国务院《"十四五"数字经济发展规划》明确提出，要大力推进食品药品安全领域的“智慧监管”与数字化溯源体系建设。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项目目的与意义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5400000" algn="tl" rotWithShape="0">
              <a:srgbClr val="1A5A96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762000" cy="762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19685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架构轻量化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SpringBoot 单体架构设计，单台云服务器即可完成部署，实现零授权费用的轻量级运行。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1524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5400000" algn="tl" rotWithShape="0">
              <a:srgbClr val="1A5A96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842000" y="1778000"/>
            <a:ext cx="762000" cy="762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19685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184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数据自动化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2667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支持批次录入与数据模拟生成，通过构建自动化数据清洗流水线，实现海量数据的自动处理与校验。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5400000" algn="tl" rotWithShape="0">
              <a:srgbClr val="1A5A96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762000" cy="762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635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032000" y="450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分析智能化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334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融合 3σ 统计异常检测与加权规则风险评分模型，所有关键阈值参数均可通过配置中心进行动态调整。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5400000" algn="tl" rotWithShape="0">
              <a:srgbClr val="1A5A96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842000" y="4445000"/>
            <a:ext cx="762000" cy="762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32500" y="46355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4508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交互实时化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842000" y="5334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WebSocket 实现服务端主动推送，确保监管大屏数据毫秒级同步，实现无刷新自动更新的实时交互。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关键技术综述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KEY TECHNICAL OVERVIEW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72457" y="1428750"/>
            <a:ext cx="3683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72457" y="1555750"/>
            <a:ext cx="50800" cy="952500"/>
          </a:xfrm>
          <a:prstGeom prst="roundRect">
            <a:avLst>
              <a:gd name="adj" fmla="val 5000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62957" y="1619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9957" y="174625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24957" y="15557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后端核心框架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SpringBoot 2.7 + MP 3.5</a:t>
            </a:r>
            <a:endParaRPr lang="en-US" sz="1100" b="0" i="0" u="none" strike="noStrike">
              <a:solidFill>
                <a:srgbClr val="1A5A9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单体架构，简化部署流程</a:t>
            </a:r>
            <a:endParaRPr lang="en-US" sz="1000" b="0" i="0" u="none" strike="noStrike">
              <a:solidFill>
                <a:srgbClr val="77777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72457" y="2825750"/>
            <a:ext cx="3683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72457" y="2952750"/>
            <a:ext cx="50800" cy="952500"/>
          </a:xfrm>
          <a:prstGeom prst="roundRect">
            <a:avLst>
              <a:gd name="adj" fmla="val 5000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62957" y="3016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9957" y="314325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24957" y="29527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 + Redis 7.0</a:t>
            </a:r>
            <a:endParaRPr lang="en-US" sz="1100" b="0" i="0" u="none" strike="noStrike">
              <a:solidFill>
                <a:srgbClr val="1A5A9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持久化存储 + 高性能缓存</a:t>
            </a:r>
            <a:endParaRPr lang="en-US" sz="1000" b="0" i="0" u="none" strike="noStrike">
              <a:solidFill>
                <a:srgbClr val="77777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72457" y="4222750"/>
            <a:ext cx="3683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72457" y="4349750"/>
            <a:ext cx="50800" cy="952500"/>
          </a:xfrm>
          <a:prstGeom prst="roundRect">
            <a:avLst>
              <a:gd name="adj" fmla="val 5000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162957" y="4413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9957" y="454025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924957" y="43497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实时双向通信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WebSocket (原生)</a:t>
            </a:r>
            <a:endParaRPr lang="en-US" sz="1100" b="0" i="0" u="none" strike="noStrike">
              <a:solidFill>
                <a:srgbClr val="1A5A9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服务端主动推送，低延迟</a:t>
            </a:r>
            <a:endParaRPr lang="en-US" sz="1000" b="0" i="0" u="none" strike="noStrike">
              <a:solidFill>
                <a:srgbClr val="77777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96000" y="1428750"/>
            <a:ext cx="3683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096000" y="1555750"/>
            <a:ext cx="50800" cy="952500"/>
          </a:xfrm>
          <a:prstGeom prst="roundRect">
            <a:avLst>
              <a:gd name="adj" fmla="val 5000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86500" y="1619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174625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15557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前端交互框架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Vue3 + Vite 5 + ElePlus</a:t>
            </a:r>
            <a:endParaRPr lang="en-US" sz="1100" b="0" i="0" u="none" strike="noStrike">
              <a:solidFill>
                <a:srgbClr val="1A5A9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基于Composition API开发</a:t>
            </a:r>
            <a:endParaRPr lang="en-US" sz="1000" b="0" i="0" u="none" strike="noStrike">
              <a:solidFill>
                <a:srgbClr val="77777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096000" y="2825750"/>
            <a:ext cx="3683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096000" y="2952750"/>
            <a:ext cx="50800" cy="952500"/>
          </a:xfrm>
          <a:prstGeom prst="roundRect">
            <a:avLst>
              <a:gd name="adj" fmla="val 5000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86500" y="3016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314325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048500" y="29527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Apache ECharts 5.4</a:t>
            </a:r>
            <a:endParaRPr lang="en-US" sz="1100" b="0" i="0" u="none" strike="noStrike">
              <a:solidFill>
                <a:srgbClr val="1A5A9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支持仪表盘、饼图等多图表</a:t>
            </a:r>
            <a:endParaRPr lang="en-US" sz="1000" b="0" i="0" u="none" strike="noStrike">
              <a:solidFill>
                <a:srgbClr val="77777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096000" y="4222750"/>
            <a:ext cx="3683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254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096000" y="4349750"/>
            <a:ext cx="50800" cy="952500"/>
          </a:xfrm>
          <a:prstGeom prst="roundRect">
            <a:avLst>
              <a:gd name="adj" fmla="val 5000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286500" y="44132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54025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048500" y="434975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安全认证 &amp; 调度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JWT + TaskScheduler</a:t>
            </a:r>
            <a:endParaRPr lang="en-US" sz="1100" b="0" i="0" u="none" strike="noStrike">
              <a:solidFill>
                <a:srgbClr val="1A5A9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无状态Token与动态任务调度</a:t>
            </a:r>
            <a:endParaRPr lang="en-US" sz="1000" b="0" i="0" u="none" strike="noStrike">
              <a:solidFill>
                <a:srgbClr val="77777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5588000" y="5715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技术选型以“稳定、易用、高性能”为核心原则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核心技术：WebSocket实时通信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334000" cy="508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技术原理 | Technical Principle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95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基于TCP单次握手建立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全双工长连接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，支持服务端主动推送。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采用Spring原生端点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/ws/data-change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，使用线程安全集合管理会话。</a:t>
            </a:r>
            <a:endParaRPr lang="en-US" sz="11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broadcast()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遍历会话发送JSON，自动剔除异常连接，保证稳定性。</a:t>
            </a:r>
            <a:endParaRPr lang="en-US" sz="11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5334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334000" cy="508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36195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前端架构 | Frontend Architecture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000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封装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ws.js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客户端，提供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on(type, fn)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emit(type, data)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实现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指数退避重连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机制 (1s→2s→5s→10s→30s)，提升弱网体验。</a:t>
            </a:r>
            <a:endParaRPr lang="en-US" sz="11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• 组件卸载(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onUnmounted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)时主动销毁连接，防止内存泄漏与误重连。</a:t>
            </a:r>
            <a:endParaRPr lang="en-US" sz="11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533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5334000" cy="508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5461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触发场景 | Trigger Scenarios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842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当系统发生以下事件时主动推送更新：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数据批次录入完成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定时清洗任务结束</a:t>
            </a: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新风险预警生成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524000"/>
            <a:ext cx="5080000" cy="4953000"/>
          </a:xfrm>
          <a:prstGeom prst="roundRect">
            <a:avLst>
              <a:gd name="adj" fmla="val 205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 l="3502" r="3502"/>
          <a:stretch>
            <a:fillRect/>
          </a:stretch>
        </p:blipFill>
        <p:spPr>
          <a:xfrm>
            <a:off x="6540500" y="1714500"/>
            <a:ext cx="4699000" cy="3937000"/>
          </a:xfrm>
          <a:prstGeom prst="roundRect">
            <a:avLst>
              <a:gd name="adj" fmla="val 193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540500" y="577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Chrome DevTools: WebSocket 连接与帧监控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需求分析与系统设计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REQUIREMENT ANALYSIS AND SYSTEM DESIGN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系统需求分析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01 / 系统角色与权限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2794000" cy="1397000"/>
          </a:xfrm>
          <a:prstGeom prst="roundRect">
            <a:avLst>
              <a:gd name="adj" fmla="val 7272"/>
            </a:avLst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413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👤 监管员 (Operator)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279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负责日常业务：登录、大盘概览、批次录入/查询、预警查看与处置、溯源链查询、数据模拟。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873500"/>
            <a:ext cx="2794000" cy="1714500"/>
          </a:xfrm>
          <a:prstGeom prst="roundRect">
            <a:avLst>
              <a:gd name="adj" fmla="val 5925"/>
            </a:avLst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0005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管理员 (Admin)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43000" y="43815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包含监管员所有权限，并增加系统配置能力：系统参数设置、操作日志审计、用户账号管理、数据定时清洗任务开关。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524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99000" y="171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02 / 核心业务闭环流程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286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6000" y="241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334000" y="24130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批次全链路录入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334000" y="2730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信息录入 → 入库存档 → 触发清洗 → 智能分析 → 结果落库 → WebSocket实时推送。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3556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3683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334000" y="36830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异常预警闭环处理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34000" y="4000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实时预警展示 → 条件过滤 → 人工介入处理 → 系统状态标记 → 列表数据自动刷新。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4826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6000" y="4953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334000" y="4953000"/>
            <a:ext cx="203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系统参数动态同步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334000" y="5270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修改配置参数 → 双写DB与缓存 → 通知任务调度器 → 业务任务立即响应新配置。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1524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82000" y="171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03 / 非功能性能指标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82000" y="2286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9000" y="2540000"/>
            <a:ext cx="508000" cy="508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144000" y="2476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≤ 1s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144000" y="2984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核心数据实时响应延迟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382000" y="3556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9000" y="3810000"/>
            <a:ext cx="508000" cy="508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144000" y="3746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≥ 100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144000" y="4254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系统高并发处理能力(QPS)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382000" y="4826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09000" y="5080000"/>
            <a:ext cx="508000" cy="5080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9144000" y="5016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&lt; 500ms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144000" y="5524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消息推送延迟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79500" y="1428750"/>
            <a:ext cx="4313555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1A5A96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161925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581150"/>
            <a:ext cx="301879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 (Vue3 SPA)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1962150"/>
            <a:ext cx="30187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技术栈：Vite, Element Plus, ECharts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核心：Pinia状态管理 / Axios &amp; WS通信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3079750"/>
            <a:ext cx="4313555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1A5A96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27025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3232150"/>
            <a:ext cx="301879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接口控制层 (@RestController)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3613150"/>
            <a:ext cx="30187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技术栈：SpringBoot Web, WebSocket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核心：Auth认证 / 实时数据推送Handler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79500" y="4730750"/>
            <a:ext cx="4313555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1A5A96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92125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4883150"/>
            <a:ext cx="301879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核心业务层 (@Service)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5264150"/>
            <a:ext cx="301879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技术栈：Spring AOP, TaskScheduler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核心：数据清洗 / 风险评分 / 批次任务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89370" y="1428750"/>
            <a:ext cx="431292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1A5A96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9870" y="161925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78370" y="1619250"/>
            <a:ext cx="2846705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数据持久层 (ORM)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78370" y="2063750"/>
            <a:ext cx="2760345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MyBatis-Plus：通用CRUD封装，IService + BaseMapper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RedisTemplate：高频数据缓存，Token黑名单管理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89370" y="3587750"/>
            <a:ext cx="431292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1A5A96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79870" y="377825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78370" y="3778250"/>
            <a:ext cx="2846705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基础设施存储层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78370" y="4222750"/>
            <a:ext cx="276034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MySQL 8.0：关系型数据库，存储核心业务数据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Redis 7.0：内存数据库，负责高速缓存与会话管理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1610" y="65913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功能模块总览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650" y="1397000"/>
            <a:ext cx="4144645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2650" y="1587500"/>
            <a:ext cx="78740" cy="10160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150" y="1587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44650" y="1549400"/>
            <a:ext cx="276288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用户认证模块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44650" y="1930400"/>
            <a:ext cx="276288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基于JWT实现登录注册，配合RBAC模型实现细粒度的角色权限控制。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2650" y="2984500"/>
            <a:ext cx="4144645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2650" y="3175000"/>
            <a:ext cx="78740" cy="10160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150" y="317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44650" y="3136900"/>
            <a:ext cx="276288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批次管理模块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44650" y="3517900"/>
            <a:ext cx="276288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支持批次信息快速录入与查询，构建完整的批次溯源链条，数据可追踪。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2650" y="4572000"/>
            <a:ext cx="4144645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2650" y="4762500"/>
            <a:ext cx="78740" cy="10160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3150" y="4762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44650" y="4724400"/>
            <a:ext cx="276288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智能分析模块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44650" y="5105400"/>
            <a:ext cx="276288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利用3σ原则检测异常数据，结合加权规则算法进行风险评分与自动分级。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738495" y="1397000"/>
            <a:ext cx="4144645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738495" y="1524000"/>
            <a:ext cx="78740" cy="9525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8995" y="1524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500495" y="1524000"/>
            <a:ext cx="2762885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预警管理中心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00495" y="1879600"/>
            <a:ext cx="2762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提供可视化预警大盘与实时预警列表，支持异常信息一键处理。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738495" y="2730500"/>
            <a:ext cx="4144645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738495" y="2857500"/>
            <a:ext cx="78740" cy="9525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8995" y="2857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500495" y="2857500"/>
            <a:ext cx="2762885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监管可视化大屏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00495" y="3213100"/>
            <a:ext cx="2762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聚合多维度业务数据，通过图表直观展示系统运行状态与核心指标。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738495" y="4064000"/>
            <a:ext cx="4144645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5738495" y="4191000"/>
            <a:ext cx="78740" cy="9525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28995" y="41910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500495" y="4191000"/>
            <a:ext cx="2762885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系统参数配置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500495" y="4546600"/>
            <a:ext cx="2762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支持动态调整算法阈值与系统运行参数，无需重启即可生效。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738495" y="5397500"/>
            <a:ext cx="4144645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5738495" y="5524500"/>
            <a:ext cx="78740" cy="8890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8995" y="5524500"/>
            <a:ext cx="406400" cy="4064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6500495" y="5524500"/>
            <a:ext cx="2762885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操作日志审计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500495" y="5842000"/>
            <a:ext cx="276288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基于AOP切面技术自动采集关键操作日志，满足安全审计要求。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30795" y="1461135"/>
            <a:ext cx="4390390" cy="3124835"/>
          </a:xfrm>
          <a:prstGeom prst="roundRect">
            <a:avLst>
              <a:gd name="adj" fmla="val 8571"/>
            </a:avLst>
          </a:prstGeom>
          <a:solidFill>
            <a:srgbClr val="1A5A96">
              <a:alpha val="6000"/>
            </a:srgbClr>
          </a:solidFill>
          <a:ln w="12700" cap="flat" cmpd="sng">
            <a:solidFill>
              <a:srgbClr val="1A5A9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319770" y="1663065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关键设计规范与技术细节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2875" y="236601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221980" y="1968500"/>
            <a:ext cx="1699895" cy="13798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密码存储安全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长度100，使用BCrypt哈希加密存储</a:t>
            </a:r>
            <a:endParaRPr lang="en-US" sz="10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1875" y="236601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239375" y="2191385"/>
            <a:ext cx="1109345" cy="1080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业务唯一约束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BatchNo/Username建立UK唯一索引</a:t>
            </a:r>
            <a:endParaRPr lang="en-US" sz="10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9385" y="3503295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238490" y="3249295"/>
            <a:ext cx="1699260" cy="1080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状态字段优化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TINYINT存储状态(0=未处理/1=已处理)</a:t>
            </a:r>
            <a:endParaRPr lang="en-US" sz="10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37750" y="3513455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0255885" y="3348355"/>
            <a:ext cx="1109345" cy="10807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复杂结构存储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Factors字段采用JSON格式，便于溯源</a:t>
            </a:r>
            <a:endParaRPr lang="en-US" sz="10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aphicFrame>
        <p:nvGraphicFramePr>
          <p:cNvPr id="34" name="Table 4"/>
          <p:cNvGraphicFramePr>
            <a:graphicFrameLocks noGrp="1"/>
          </p:cNvGraphicFramePr>
          <p:nvPr/>
        </p:nvGraphicFramePr>
        <p:xfrm>
          <a:off x="762000" y="1461135"/>
          <a:ext cx="6546850" cy="3830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651000"/>
                <a:gridCol w="3498850"/>
              </a:tblGrid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核心字段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user_info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用户认证表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username, password, role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batch_info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批次主表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batch_no, origin, enterprise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detection_data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检测数据表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batch_id, pesticide, heavy_metal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logistics_data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物流轨迹表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batch_id, temperature, gps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alert_record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预警记录表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batch_id, alert_type, risk_score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risk_assessment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风险评估表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batch_id, risk_level, factors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config_param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参数配置表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param_key, param_value, group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E5C">
                        <a:alpha val="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operation_log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操作日志表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635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id, username, operation_type, desc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数据库设计——E-R关系图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123950" y="4834255"/>
            <a:ext cx="10306050" cy="1372235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314450" y="4925695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5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4950" y="5179695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2203450" y="5052695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核心溯源闭环设计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以 BATCH 表为枢纽，关联检测、物流、预警及风险评估数据，构建全链路信息追溯体系。</a:t>
            </a:r>
            <a:endParaRPr lang="en-US" sz="11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477000" y="495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5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5207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5080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系统参数动态化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独立设计 CONFIG_PARAM 表，集中存储系统运行所需的动态阈值与配置参数，便于后期维护调整。</a:t>
            </a:r>
            <a:endParaRPr lang="en-US" sz="11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" y="1402715"/>
            <a:ext cx="9925050" cy="3326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IMPLEMENTATION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数据清洗与智能分析（流水线架构）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 自动化处理流程 (Pipeline)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2667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41500" y="2603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01. 数据读取与触发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841500" y="298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监听批次录入事件，自动关联读取检测数据与全链路物流轨迹数据。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3810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841500" y="3746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02. 异常检测与风险评分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841500" y="4127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应用3σ统计法识别温度异常；基于预设权重模型计算综合风险评分。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699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953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841500" y="4889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03. 持久化存储与预警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841500" y="5270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结果落库至risk_assessment；若分值超标则自动生成alert_record预警。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E293B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核心逻辑实现 (DataCleanService)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413000"/>
            <a:ext cx="4699000" cy="3302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67500" y="2603500"/>
            <a:ext cx="4318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public void </a:t>
            </a:r>
            <a:r>
              <a:rPr lang="en-US" sz="1000" b="0" i="0" u="none" strike="noStrike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cleanBatch</a:t>
            </a: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(Long batchId) {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1. 读取数据：检测指标 + 物流轨迹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DetectionData</a:t>
            </a: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 = mapper.selectLatestByBatchId(batchId);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2. 智能分析：3σ异常检测 &amp; 风险评分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98C37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double</a:t>
            </a: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anomaly = detector.detectTempAnomaly(logistics);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RiskResult</a:t>
            </a: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score = riskService.calculate(data, logistics);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3. 落库与预警：阈值触发机制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(anomaly &gt; THRESHOLD || score.getVal() &gt; ALERT) {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alertMapper.insert(</a:t>
            </a:r>
            <a:r>
              <a:rPr lang="en-US" sz="1000" b="0" i="0" u="none" strike="noStrike">
                <a:solidFill>
                  <a:srgbClr val="D19A6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new</a:t>
            </a:r>
            <a:r>
              <a:rPr lang="en-US" sz="10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AlertRecord</a:t>
            </a: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(batchId, score));</a:t>
            </a:r>
            <a:r>
              <a:rPr lang="en-US" sz="10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生成预警</a:t>
            </a:r>
            <a:endParaRPr lang="en-US" sz="10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 batchInfoMapper.updateStatus(batchId,</a:t>
            </a:r>
            <a:r>
              <a:rPr lang="en-US" sz="1000" b="0" i="0" u="none" strike="noStrike">
                <a:solidFill>
                  <a:srgbClr val="D19A6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r>
              <a:rPr lang="en-US" sz="1000" b="0" i="0" u="none" strike="noStrike">
                <a:solidFill>
                  <a:srgbClr val="5C637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标记清洗完成</a:t>
            </a:r>
            <a:endParaRPr lang="en-US" sz="1000" b="0" i="0" u="none" strike="noStrike">
              <a:solidFill>
                <a:srgbClr val="5C637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000" b="0" i="0" u="none" strike="noStrike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000" b="0" i="0" u="none" strike="noStrike">
              <a:solidFill>
                <a:srgbClr val="ABB2B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58420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支持定时任务异步执行 / WebSocket 实时推送前端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数据清洗与智能分析（算法详解）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558800"/>
          </a:xfrm>
          <a:prstGeom prst="roundRect">
            <a:avLst>
              <a:gd name="adj" fmla="val 22727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542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3σ 统计异常检测算法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06500" y="26416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 算法核心原理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29718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基于拉依达准则，通过计算样本均值与标准差，量化数据偏离整体分布的程度，识别异常点。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06500" y="37211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核心数学公式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06500" y="40386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均值 x̄=Σxᵢ/n | 标准差 s=√[Σ(xᵢ-x̄)²/(n-1)]</a:t>
            </a:r>
            <a:br>
              <a:rPr lang="en-US" sz="11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偏离度 d = |xᵢ - x̄| / s (偏离度是判定的核心依据)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826000"/>
            <a:ext cx="4699000" cy="825500"/>
          </a:xfrm>
          <a:prstGeom prst="roundRect">
            <a:avLst>
              <a:gd name="adj" fmla="val 12307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206500" y="49276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 偏离度与状态映射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06500" y="5245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0-2σ → 正常数据 | 2-3σ → 预警状态 | &gt;3σ → 异常剔除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778500"/>
            <a:ext cx="4699000" cy="381000"/>
          </a:xfrm>
          <a:prstGeom prst="roundRect">
            <a:avLst>
              <a:gd name="adj" fmla="val 50000"/>
            </a:avLst>
          </a:prstGeom>
          <a:solidFill>
            <a:srgbClr val="E1EB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43000" y="5816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实现：计算统计量后，将偏离度映射为 0~1 之间的异常分数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778000"/>
            <a:ext cx="4699000" cy="558800"/>
          </a:xfrm>
          <a:prstGeom prst="roundRect">
            <a:avLst>
              <a:gd name="adj" fmla="val 22727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1854200"/>
            <a:ext cx="469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加权规则风险评分算法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540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67500" y="26416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 双维度权重分配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67500" y="29718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综合考虑“检测维度”(权重70%)与“物流维度”(权重30%)，实现多因子风险评估。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36195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67500" y="37211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 加权评分计算公式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67500" y="4038600"/>
            <a:ext cx="431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检测分 = 农残×35% + 重金属×35% + 微生物×30%</a:t>
            </a:r>
            <a:br>
              <a:rPr lang="en-US" sz="11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最终分 = (检测分 × 0.7) + (物流分 × 0.3)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826000"/>
            <a:ext cx="4699000" cy="825500"/>
          </a:xfrm>
          <a:prstGeom prst="roundRect">
            <a:avLst>
              <a:gd name="adj" fmla="val 12307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67500" y="49276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 风险等级划分标准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67500" y="5245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0-30分 (Low/低风险) | 31-70分 (Medium/中风险) | 71-100分 (High/高风险)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5778500"/>
            <a:ext cx="4699000" cy="381000"/>
          </a:xfrm>
          <a:prstGeom prst="roundRect">
            <a:avLst>
              <a:gd name="adj" fmla="val 50000"/>
            </a:avLst>
          </a:prstGeom>
          <a:solidFill>
            <a:srgbClr val="E1EB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04000" y="58166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💡 优势：支持从配置表动态读取权重系数，灵活适配不同场景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模块二：批次管理与溯源链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937000"/>
            <a:ext cx="469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▍批次录入事务处理流程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43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核心逻辑：通过 `BatchController.createBatch()` 在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单一事务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内完成批次主表、检测数据、物流轨迹的原子化插入，并在事务提交后自动触发ETL数据清洗流水线。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3937000"/>
            <a:ext cx="469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▍全链路数据聚合与展示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4343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核心逻辑：调用 `TraceService.getTraceChain(batchId)`，以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批次ID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为索引聚合全生命周期数据，在时间轴上可视化展示基础信息、质检报告、物流轨迹及风险预警记录。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1A5A96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524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56769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841500" y="5613400"/>
            <a:ext cx="393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入口一：批次列表查询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在批次管理列表页，直接点击目标批次号跳转至溯源详情页</a:t>
            </a:r>
            <a:endParaRPr lang="en-US" sz="11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5524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0F6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56769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5613400"/>
            <a:ext cx="393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入口二：溯源链中心检索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在溯源链主页面，通过下拉框进行远程模糊搜索，快速定位批次</a:t>
            </a:r>
            <a:endParaRPr lang="en-US" sz="11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330" y="1630045"/>
            <a:ext cx="3989705" cy="21583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490" y="1633220"/>
            <a:ext cx="4223385" cy="22847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模块三：预警管理与WebSocket推送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4826000"/>
          </a:xfrm>
          <a:prstGeom prst="roundRect">
            <a:avLst>
              <a:gd name="adj" fmla="val 4444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预警大盘 (AlertDashboard)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946">
            <a:off x="1016014" y="215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5A9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4572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可视化概览：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环形图展示处理率，进度条呈现风险等级分布。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时效分析：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统计今日/周/月的预警处理时效数据。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趋势与排行：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7天趋势柱状图与TOP 5高风险批次排行。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524000"/>
            <a:ext cx="3429000" cy="4826000"/>
          </a:xfrm>
          <a:prstGeom prst="roundRect">
            <a:avLst>
              <a:gd name="adj" fmla="val 4444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714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预警列表 (AlertList)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946">
            <a:off x="4699014" y="2152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5A9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4699000" y="4572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多维筛选：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支持按“预警类型”与“处理状态”快速过滤。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便捷操作：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表格直连处理入口，无需跳转，提升效率。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全链路溯源：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点击批次号可直接跳转至详细溯源链页面。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524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1714500"/>
            <a:ext cx="309118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实时推送机制 (WebSocket)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15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5A96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9144000" y="2413000"/>
            <a:ext cx="1270000" cy="1270000"/>
          </a:xfrm>
          <a:prstGeom prst="ellipse">
            <a:avLst/>
          </a:prstGeom>
          <a:solidFill>
            <a:srgbClr val="1A5A9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4500" y="2603500"/>
            <a:ext cx="889000" cy="889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382000" y="3937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后端触发预警时，调用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pushAlertNew()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接口，主动向所有在线客户端推送数据。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实现列表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毫秒级实时更新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，确保风险信息零延迟触达。</a:t>
            </a:r>
            <a:endParaRPr lang="en-US" sz="12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85" y="2413000"/>
            <a:ext cx="2832100" cy="15322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2413000"/>
            <a:ext cx="3143885" cy="17011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模块四：监管大屏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1524000"/>
            <a:ext cx="558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1A5A9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778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858000" y="1714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页面布局 · 顶部核心指标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2159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展示系统运行的关键统计数据：批次总数、预警总数、待处理预警量、环境平均温度、环境平均湿度，形成数据驾驶舱的概览入口。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3175000"/>
            <a:ext cx="5588000" cy="212598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1A5A9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3429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3365500"/>
            <a:ext cx="4318000" cy="567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页面布局 · 中部与底部图表区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3810000"/>
            <a:ext cx="4191000" cy="1417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中部 (3列)：风险等级分布(饼图)、风险评分分布(柱状图)、预警类型分布(饼图)。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底部 (2列)：近30天批次新增趋势(折线图)、近30天预警趋势(折线图)。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83515" y="5046980"/>
            <a:ext cx="558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1A5A9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515" y="530098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99515" y="523748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 · WebSocket 实时驱动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99515" y="561848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监听 `OVERVIEW_UPDATE` 消息，通过 ECharts API 实现图表无刷新重绘更新。</a:t>
            </a:r>
            <a:endParaRPr lang="en-US" sz="110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70" y="1524000"/>
            <a:ext cx="5627370" cy="30441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模块五：系统参数配置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826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58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系统参数设置可视化界面示意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1524000"/>
            <a:ext cx="5588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842000" y="1524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096000" y="1651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ConfigService 三层架构设计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2032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• 读取：请求 → Redis缓存 → (未命中) → MySQL查询 → 回填缓存 → 返回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• 更新：请求 → MySQL写入 → Redis同步 → 发布订阅 → 监听器响应</a:t>
            </a:r>
            <a:endParaRPr lang="en-US" sz="1200" b="0" i="0" u="none" strike="noStrike">
              <a:solidFill>
                <a:srgbClr val="44444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842000" y="3175000"/>
            <a:ext cx="5588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842000" y="3175000"/>
            <a:ext cx="76200" cy="16510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096000" y="330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动态调度与实时响应机制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3683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• 开关响应：监听 schedule.enabled 状态，TaskScheduler 立即启停清洗任务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• 间隔动态调整：监听 interval 参数变更，实时重调度任务执行周期</a:t>
            </a:r>
            <a:endParaRPr lang="en-US" sz="1200" b="0" i="0" u="none" strike="noStrike">
              <a:solidFill>
                <a:srgbClr val="44444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• 算法热加载：阈值/权重变更时，新批次数据直接采用最新参数计算</a:t>
            </a:r>
            <a:endParaRPr lang="en-US" sz="1200" b="0" i="0" u="none" strike="noStrike">
              <a:solidFill>
                <a:srgbClr val="44444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42000" y="5016500"/>
            <a:ext cx="5588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842000" y="5016500"/>
            <a:ext cx="76200" cy="12700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096000" y="51435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核心业务参数分组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5588000"/>
            <a:ext cx="1206500" cy="457200"/>
          </a:xfrm>
          <a:prstGeom prst="roundRect">
            <a:avLst>
              <a:gd name="adj" fmla="val 22222"/>
            </a:avLst>
          </a:prstGeom>
          <a:solidFill>
            <a:srgbClr val="E8F3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风险评分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29500" y="5588000"/>
            <a:ext cx="1206500" cy="457200"/>
          </a:xfrm>
          <a:prstGeom prst="roundRect">
            <a:avLst>
              <a:gd name="adj" fmla="val 22222"/>
            </a:avLst>
          </a:prstGeom>
          <a:solidFill>
            <a:srgbClr val="E8F3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异常检测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63000" y="5588000"/>
            <a:ext cx="1206500" cy="457200"/>
          </a:xfrm>
          <a:prstGeom prst="roundRect">
            <a:avLst>
              <a:gd name="adj" fmla="val 22222"/>
            </a:avLst>
          </a:prstGeom>
          <a:solidFill>
            <a:srgbClr val="E8F3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预警阈值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096500" y="5588000"/>
            <a:ext cx="1206500" cy="457200"/>
          </a:xfrm>
          <a:prstGeom prst="roundRect">
            <a:avLst>
              <a:gd name="adj" fmla="val 22222"/>
            </a:avLst>
          </a:prstGeom>
          <a:solidFill>
            <a:srgbClr val="E8F3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定时清洗</a:t>
            </a:r>
            <a:endParaRPr lang="en-US" sz="110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2383790"/>
            <a:ext cx="4514215" cy="24422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已完成的工作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508000" cy="381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641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603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SpringBoot单体架构，实现系统的轻量化快速部署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175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27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3238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3σ统计异常检测 + 加权规则评分，纯Java代码实现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810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911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3873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集成WebSocket服务端主动推送，达成实时数据交互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445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4546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508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监管大屏基于ECharts开发，实现风险数据多维可视化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080000"/>
            <a:ext cx="4699000" cy="508000"/>
          </a:xfrm>
          <a:prstGeom prst="roundRect">
            <a:avLst>
              <a:gd name="adj" fmla="val 2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5181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5143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参数动态配置 + AOP日志审计 + 定时任务清洗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77000" y="177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未来改进方向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2222500"/>
            <a:ext cx="508000" cy="381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2540000"/>
            <a:ext cx="4699000" cy="825500"/>
          </a:xfrm>
          <a:prstGeom prst="roundRect">
            <a:avLst>
              <a:gd name="adj" fmla="val 12307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794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12000" y="2603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接入真实IoT设备数据流，适配MQTT协议，实现源头数据实时采集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3492500"/>
            <a:ext cx="4699000" cy="825500"/>
          </a:xfrm>
          <a:prstGeom prst="roundRect">
            <a:avLst>
              <a:gd name="adj" fmla="val 12307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3746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112000" y="3556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引入Redis Pub-Sub机制，实现跨节点WebSocket广播，支持系统水平扩展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4445000"/>
            <a:ext cx="4699000" cy="825500"/>
          </a:xfrm>
          <a:prstGeom prst="roundRect">
            <a:avLst>
              <a:gd name="adj" fmla="val 12307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6990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112000" y="4508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升级可视化能力，引入ECharts Geo热力地图，直观展示全国/各省风险分布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77000" y="53975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56261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112000" y="5461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深化分析算法，融合季节性因素与产地聚集特征进行多批次联合风险研判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致 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1A5A96">
                <a:alpha val="1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82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921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恩师指引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特别感谢指导老师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唐建国副教授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，在课题选题、技术路线规划及论文撰写的全过程中，给予了我悉心的学术指导与耐心的细节帮助。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1A5A96">
                <a:alpha val="1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2032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2921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环境与同窗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683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感谢学院提供的优越科研与学习环境，为毕业设计的开展奠定了坚实基础。同时感谢身边同学和朋友们的一路支持、陪伴与鼓励。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1A5A96">
                <a:alpha val="1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4200" y="2032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29210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致谢所有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683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向所有在毕业设计期间给予我帮助、解答疑惑的老师和同学们致以诚挚的谢意。是大家的共同帮助，让这段科研历程充实而温暖。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17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A5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0" y="3683000"/>
            <a:ext cx="457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810000" y="3937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5A96"/>
                </a:solidFill>
                <a:latin typeface="Noto Sans SC"/>
                <a:ea typeface="Noto Sans SC"/>
                <a:cs typeface="Noto Sans SC"/>
                <a:sym typeface="Noto Sans SC"/>
              </a:rPr>
              <a:t>刘勇 | 221040100211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0" y="4445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计算机科学与技术</a:t>
            </a:r>
            <a:r>
              <a:rPr lang="zh-CN" alt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专业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2022 级 2</a:t>
            </a:r>
            <a:r>
              <a:rPr lang="zh-CN" alt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班</a:t>
            </a:r>
            <a:endParaRPr lang="zh-CN" altLang="en-US" sz="1300" b="0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810000" y="495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信息科学与工程学院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6110</Words>
  <Application>WPS 文字</Application>
  <PresentationFormat/>
  <Paragraphs>509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Source Code Pro</vt:lpstr>
      <vt:lpstr>Noto Sans SC</vt:lpstr>
      <vt:lpstr>Source Code Pro</vt:lpstr>
      <vt:lpstr>苹方-简</vt:lpstr>
      <vt:lpstr>Apple Color Emoji</vt:lpstr>
      <vt:lpstr>宋体-简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Fighter</cp:lastModifiedBy>
  <cp:revision>3</cp:revision>
  <dcterms:created xsi:type="dcterms:W3CDTF">2026-04-10T05:23:21Z</dcterms:created>
  <dcterms:modified xsi:type="dcterms:W3CDTF">2026-04-10T05:23:21Z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000FF7884F6CB1F0BC87D8690F223A7F_42</vt:lpwstr>
  </property>
</Properties>
</file>